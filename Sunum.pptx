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1" d="100"/>
          <a:sy n="61" d="100"/>
        </p:scale>
        <p:origin x="85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tr-TR" smtClean="0"/>
              <a:t>Asıl başlık stili için tıklatın</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tr-TR" smtClean="0"/>
              <a:t>Asıl alt başlık stilini düzenlemek için tıklatın</a:t>
            </a:r>
            <a:endParaRPr lang="en-US" dirty="0"/>
          </a:p>
        </p:txBody>
      </p:sp>
      <p:sp>
        <p:nvSpPr>
          <p:cNvPr id="4"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1372821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dirty="0"/>
          </a:p>
        </p:txBody>
      </p:sp>
      <p:sp>
        <p:nvSpPr>
          <p:cNvPr id="3" name="Content Placeholder 2"/>
          <p:cNvSpPr>
            <a:spLocks noGrp="1"/>
          </p:cNvSpPr>
          <p:nvPr>
            <p:ph idx="1"/>
          </p:nvPr>
        </p:nvSpPr>
        <p:spPr/>
        <p:txBody>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7"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38323529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bilgisi">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tr-TR" smtClean="0"/>
              <a:t>Asıl başlık stili için tıklatın</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smtClean="0"/>
              <a:t>Asıl metin stillerini düzenlemek için tıklatın</a:t>
            </a:r>
          </a:p>
        </p:txBody>
      </p:sp>
      <p:sp>
        <p:nvSpPr>
          <p:cNvPr id="4"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26839821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5" name="Date Placeholder 4"/>
          <p:cNvSpPr>
            <a:spLocks noGrp="1"/>
          </p:cNvSpPr>
          <p:nvPr>
            <p:ph type="dt" sz="half" idx="10"/>
          </p:nvPr>
        </p:nvSpPr>
        <p:spPr/>
        <p:txBody>
          <a:bodyPr/>
          <a:lstStyle/>
          <a:p>
            <a:fld id="{1CC9F68D-F37D-4B3E-A6D2-8B5BDD64786C}" type="datetimeFigureOut">
              <a:rPr lang="tr-TR" smtClean="0"/>
              <a:t>6.05.2020</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417303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tr-TR" smtClean="0"/>
              <a:t>Asıl başlık stili için tıklatın</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7" name="Date Placeholder 6"/>
          <p:cNvSpPr>
            <a:spLocks noGrp="1"/>
          </p:cNvSpPr>
          <p:nvPr>
            <p:ph type="dt" sz="half" idx="10"/>
          </p:nvPr>
        </p:nvSpPr>
        <p:spPr/>
        <p:txBody>
          <a:bodyPr/>
          <a:lstStyle/>
          <a:p>
            <a:fld id="{1CC9F68D-F37D-4B3E-A6D2-8B5BDD64786C}" type="datetimeFigureOut">
              <a:rPr lang="tr-TR" smtClean="0"/>
              <a:t>6.05.2020</a:t>
            </a:fld>
            <a:endParaRPr lang="tr-TR"/>
          </a:p>
        </p:txBody>
      </p:sp>
      <p:sp>
        <p:nvSpPr>
          <p:cNvPr id="8" name="Footer Placeholder 7"/>
          <p:cNvSpPr>
            <a:spLocks noGrp="1"/>
          </p:cNvSpPr>
          <p:nvPr>
            <p:ph type="ftr" sz="quarter" idx="11"/>
          </p:nvPr>
        </p:nvSpPr>
        <p:spPr/>
        <p:txBody>
          <a:bodyPr/>
          <a:lstStyle/>
          <a:p>
            <a:endParaRPr lang="tr-TR"/>
          </a:p>
        </p:txBody>
      </p:sp>
      <p:sp>
        <p:nvSpPr>
          <p:cNvPr id="9" name="Slide Number Placeholder 8"/>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5104740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dirty="0"/>
          </a:p>
        </p:txBody>
      </p:sp>
      <p:sp>
        <p:nvSpPr>
          <p:cNvPr id="7" name="Date Placeholder 2"/>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3"/>
          <p:cNvSpPr>
            <a:spLocks noGrp="1"/>
          </p:cNvSpPr>
          <p:nvPr>
            <p:ph type="ftr" sz="quarter" idx="11"/>
          </p:nvPr>
        </p:nvSpPr>
        <p:spPr/>
        <p:txBody>
          <a:bodyPr/>
          <a:lstStyle/>
          <a:p>
            <a:endParaRPr lang="tr-TR"/>
          </a:p>
        </p:txBody>
      </p:sp>
      <p:sp>
        <p:nvSpPr>
          <p:cNvPr id="6" name="Slide Number Placeholder 4"/>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506791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2"/>
          <p:cNvSpPr>
            <a:spLocks noGrp="1"/>
          </p:cNvSpPr>
          <p:nvPr>
            <p:ph type="ftr" sz="quarter" idx="11"/>
          </p:nvPr>
        </p:nvSpPr>
        <p:spPr/>
        <p:txBody>
          <a:bodyPr/>
          <a:lstStyle/>
          <a:p>
            <a:endParaRPr lang="tr-TR"/>
          </a:p>
        </p:txBody>
      </p:sp>
      <p:sp>
        <p:nvSpPr>
          <p:cNvPr id="6" name="Slide Number Placeholder 3"/>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3854559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tr-TR" smtClean="0"/>
              <a:t>Asıl başlık stili için tıklatın</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7" name="Date Placeholder 4"/>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5"/>
          <p:cNvSpPr>
            <a:spLocks noGrp="1"/>
          </p:cNvSpPr>
          <p:nvPr>
            <p:ph type="ftr" sz="quarter" idx="11"/>
          </p:nvPr>
        </p:nvSpPr>
        <p:spPr/>
        <p:txBody>
          <a:bodyPr/>
          <a:lstStyle/>
          <a:p>
            <a:endParaRPr lang="tr-TR"/>
          </a:p>
        </p:txBody>
      </p:sp>
      <p:sp>
        <p:nvSpPr>
          <p:cNvPr id="6" name="Slide Number Placeholder 6"/>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27486266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tr-TR" smtClean="0"/>
              <a:t>Asıl başlık stili için tıklatın</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smtClean="0"/>
              <a:t>Resim eklemek için simgeyi tıklatın</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5" name="Date Placeholder 4"/>
          <p:cNvSpPr>
            <a:spLocks noGrp="1"/>
          </p:cNvSpPr>
          <p:nvPr>
            <p:ph type="dt" sz="half" idx="10"/>
          </p:nvPr>
        </p:nvSpPr>
        <p:spPr/>
        <p:txBody>
          <a:bodyPr/>
          <a:lstStyle/>
          <a:p>
            <a:fld id="{1CC9F68D-F37D-4B3E-A6D2-8B5BDD64786C}" type="datetimeFigureOut">
              <a:rPr lang="tr-TR" smtClean="0"/>
              <a:t>6.05.2020</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7480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Yazılı Panoramik Resim">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tr-TR" smtClean="0"/>
              <a:t>Asıl başlık stili için tıklatın</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smtClean="0"/>
              <a:t>Resim eklemek için simgeyi tıklatın</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5" name="Date Placeholder 4"/>
          <p:cNvSpPr>
            <a:spLocks noGrp="1"/>
          </p:cNvSpPr>
          <p:nvPr>
            <p:ph type="dt" sz="half" idx="10"/>
          </p:nvPr>
        </p:nvSpPr>
        <p:spPr/>
        <p:txBody>
          <a:bodyPr/>
          <a:lstStyle/>
          <a:p>
            <a:fld id="{1CC9F68D-F37D-4B3E-A6D2-8B5BDD64786C}" type="datetimeFigureOut">
              <a:rPr lang="tr-TR" smtClean="0"/>
              <a:t>6.05.2020</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38481115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aşlık ve Resim Yazısı">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tr-TR" smtClean="0"/>
              <a:t>Asıl başlık stili için tıklatın</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4"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42883973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esim Yazılı Alıntı">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tr-TR" smtClean="0"/>
              <a:t>Asıl başlık stili için tıklatın</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tr-TR" smtClean="0"/>
              <a:t>Asıl metin stillerini düzenlemek için tıklatın</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4"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8375560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sim Kartı">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tr-TR" smtClean="0"/>
              <a:t>Asıl başlık stili için tıklatın</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smtClean="0"/>
              <a:t>Asıl metin stillerini düzenlemek için tıklatın</a:t>
            </a:r>
          </a:p>
        </p:txBody>
      </p:sp>
      <p:sp>
        <p:nvSpPr>
          <p:cNvPr id="4"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2406865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Sütu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tr-TR" smtClean="0"/>
              <a:t>Asıl başlık stili için tıklatın</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4"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26796917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Resim Sütu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tr-TR" smtClean="0"/>
              <a:t>Asıl başlık stili için tıklatın</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smtClean="0"/>
              <a:t>Resim eklemek için simgeyi tıklatın</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smtClean="0"/>
              <a:t>Resim eklemek için simgeyi tıklatın</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smtClean="0"/>
              <a:t>Resim eklemek için simgeyi tıklatın</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smtClean="0"/>
              <a:t>Asıl metin stillerini düzenlemek için tıklatın</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4"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4102544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Başlık, Dikey Meti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dirty="0"/>
          </a:p>
        </p:txBody>
      </p:sp>
      <p:sp>
        <p:nvSpPr>
          <p:cNvPr id="3" name="Vertical Text Placeholder 2"/>
          <p:cNvSpPr>
            <a:spLocks noGrp="1"/>
          </p:cNvSpPr>
          <p:nvPr>
            <p:ph type="body" orient="vert" idx="1"/>
          </p:nvPr>
        </p:nvSpPr>
        <p:spPr/>
        <p:txBody>
          <a:bodyPr vert="eaVert" anchor="t" anchorCtr="0"/>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4"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262536130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tr-TR" smtClean="0"/>
              <a:t>Asıl başlık stili için tıklatın</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4" name="Date Placeholder 3"/>
          <p:cNvSpPr>
            <a:spLocks noGrp="1"/>
          </p:cNvSpPr>
          <p:nvPr>
            <p:ph type="dt" sz="half" idx="10"/>
          </p:nvPr>
        </p:nvSpPr>
        <p:spPr/>
        <p:txBody>
          <a:bodyPr/>
          <a:lstStyle/>
          <a:p>
            <a:fld id="{1CC9F68D-F37D-4B3E-A6D2-8B5BDD64786C}" type="datetimeFigureOut">
              <a:rPr lang="tr-TR" smtClean="0"/>
              <a:t>6.05.2020</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1428C653-488F-4BA9-841F-6B49A8AFAA27}" type="slidenum">
              <a:rPr lang="tr-TR" smtClean="0"/>
              <a:t>‹#›</a:t>
            </a:fld>
            <a:endParaRPr lang="tr-TR"/>
          </a:p>
        </p:txBody>
      </p:sp>
    </p:spTree>
    <p:extLst>
      <p:ext uri="{BB962C8B-B14F-4D97-AF65-F5344CB8AC3E}">
        <p14:creationId xmlns:p14="http://schemas.microsoft.com/office/powerpoint/2010/main" val="3695373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tr-TR" smtClean="0"/>
              <a:t>Asıl başlık stili için tıklatın</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1CC9F68D-F37D-4B3E-A6D2-8B5BDD64786C}" type="datetimeFigureOut">
              <a:rPr lang="tr-TR" smtClean="0"/>
              <a:t>6.05.2020</a:t>
            </a:fld>
            <a:endParaRPr lang="tr-TR"/>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tr-TR"/>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1428C653-488F-4BA9-841F-6B49A8AFAA27}" type="slidenum">
              <a:rPr lang="tr-TR" smtClean="0"/>
              <a:t>‹#›</a:t>
            </a:fld>
            <a:endParaRPr lang="tr-TR"/>
          </a:p>
        </p:txBody>
      </p:sp>
    </p:spTree>
    <p:extLst>
      <p:ext uri="{BB962C8B-B14F-4D97-AF65-F5344CB8AC3E}">
        <p14:creationId xmlns:p14="http://schemas.microsoft.com/office/powerpoint/2010/main" val="62356136"/>
      </p:ext>
    </p:extLst>
  </p:cSld>
  <p:clrMap bg1="dk1" tx1="lt1" bg2="dk2" tx2="lt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hyperlink" Target="https://tr.wikipedia.org/wiki/Do%C4%9Fal_dil_i%C5%9Fleme" TargetMode="External"/><Relationship Id="rId3" Type="http://schemas.openxmlformats.org/officeDocument/2006/relationships/hyperlink" Target="https://tr.wikipedia.org/w/index.php?title=Resim_ve_video_tan%C4%B1ma&amp;action=edit&amp;redlink=1" TargetMode="External"/><Relationship Id="rId7" Type="http://schemas.openxmlformats.org/officeDocument/2006/relationships/hyperlink" Target="https://tr.wikipedia.org/w/index.php?title=T%C4%B1bbi_g%C3%B6r%C3%BCnt%C3%BC_analizi&amp;action=edit&amp;redlink=1" TargetMode="External"/><Relationship Id="rId2" Type="http://schemas.openxmlformats.org/officeDocument/2006/relationships/hyperlink" Target="https://tr.wikipedia.org/wiki/Derin_%C3%B6%C4%9Frenme" TargetMode="External"/><Relationship Id="rId1" Type="http://schemas.openxmlformats.org/officeDocument/2006/relationships/slideLayout" Target="../slideLayouts/slideLayout2.xml"/><Relationship Id="rId6" Type="http://schemas.openxmlformats.org/officeDocument/2006/relationships/hyperlink" Target="https://tr.wikipedia.org/w/index.php?title=Resim_s%C4%B1n%C4%B1fland%C4%B1rma&amp;action=edit&amp;redlink=1" TargetMode="External"/><Relationship Id="rId5" Type="http://schemas.openxmlformats.org/officeDocument/2006/relationships/hyperlink" Target="https://tr.wikipedia.org/wiki/Evri%C5%9Fimsel_Sinir_A%C4%9Flar%C4%B1#cite_note-1" TargetMode="External"/><Relationship Id="rId4" Type="http://schemas.openxmlformats.org/officeDocument/2006/relationships/hyperlink" Target="https://tr.wikipedia.org/w/index.php?title=%C3%96neri_sistemleri&amp;action=edit&amp;redlink=1" TargetMode="External"/><Relationship Id="rId9" Type="http://schemas.openxmlformats.org/officeDocument/2006/relationships/hyperlink" Target="https://tr.wikipedia.org/wiki/Evri%C5%9Fimsel_Sinir_A%C4%9Flar%C4%B1#cite_note-2"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tr.wikipedia.org/wiki/Evri%C5%9Fimsel_Sinir_A%C4%9Flar%C4%B1#cite_note-4" TargetMode="External"/><Relationship Id="rId2" Type="http://schemas.openxmlformats.org/officeDocument/2006/relationships/hyperlink" Target="https://tr.wikipedia.org/wiki/Nokta_%C3%A7arp%C4%B1m"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ctrTitle"/>
          </p:nvPr>
        </p:nvSpPr>
        <p:spPr/>
        <p:txBody>
          <a:bodyPr/>
          <a:lstStyle/>
          <a:p>
            <a:r>
              <a:rPr lang="tr-TR" dirty="0" smtClean="0"/>
              <a:t>Makine Öğrenmesi Vize Projesi</a:t>
            </a:r>
            <a:endParaRPr lang="tr-TR" dirty="0"/>
          </a:p>
        </p:txBody>
      </p:sp>
      <p:sp>
        <p:nvSpPr>
          <p:cNvPr id="3" name="Alt Başlık 2"/>
          <p:cNvSpPr>
            <a:spLocks noGrp="1"/>
          </p:cNvSpPr>
          <p:nvPr>
            <p:ph type="subTitle" idx="1"/>
          </p:nvPr>
        </p:nvSpPr>
        <p:spPr/>
        <p:txBody>
          <a:bodyPr/>
          <a:lstStyle/>
          <a:p>
            <a:r>
              <a:rPr lang="tr-TR" dirty="0" smtClean="0"/>
              <a:t>Çağatay Türkan</a:t>
            </a:r>
          </a:p>
          <a:p>
            <a:r>
              <a:rPr lang="tr-TR" dirty="0" smtClean="0"/>
              <a:t>1908020005</a:t>
            </a:r>
            <a:endParaRPr lang="tr-TR" dirty="0"/>
          </a:p>
        </p:txBody>
      </p:sp>
    </p:spTree>
    <p:extLst>
      <p:ext uri="{BB962C8B-B14F-4D97-AF65-F5344CB8AC3E}">
        <p14:creationId xmlns:p14="http://schemas.microsoft.com/office/powerpoint/2010/main" val="313395360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normAutofit/>
          </a:bodyPr>
          <a:lstStyle/>
          <a:p>
            <a:r>
              <a:rPr lang="tr-TR" dirty="0" smtClean="0"/>
              <a:t>Nesne Tanıma (Object </a:t>
            </a:r>
            <a:r>
              <a:rPr lang="tr-TR" dirty="0" err="1" smtClean="0"/>
              <a:t>Detection</a:t>
            </a:r>
            <a:r>
              <a:rPr lang="tr-TR" dirty="0" smtClean="0"/>
              <a:t>) </a:t>
            </a:r>
            <a:r>
              <a:rPr lang="tr-TR" dirty="0" smtClean="0"/>
              <a:t>Nedir?</a:t>
            </a:r>
            <a:endParaRPr lang="tr-TR" dirty="0"/>
          </a:p>
        </p:txBody>
      </p:sp>
      <p:sp>
        <p:nvSpPr>
          <p:cNvPr id="3" name="İçerik Yer Tutucusu 2"/>
          <p:cNvSpPr>
            <a:spLocks noGrp="1"/>
          </p:cNvSpPr>
          <p:nvPr>
            <p:ph idx="1"/>
          </p:nvPr>
        </p:nvSpPr>
        <p:spPr/>
        <p:txBody>
          <a:bodyPr/>
          <a:lstStyle/>
          <a:p>
            <a:r>
              <a:rPr lang="tr-TR" dirty="0" smtClean="0"/>
              <a:t>Nesne Tanıma/Algılama, görüntüdeki belirli sınıfların nesnesini belirleme ve bulma ile ilgili yaygın bir Bilgisayar Görüsü problemidir. Nesneyi yorumlamak, nesnenin etrafında bir sınırlama kutusu oluşturmak veya görüntüdeki nesneyi içeren (</a:t>
            </a:r>
            <a:r>
              <a:rPr lang="tr-TR" dirty="0" err="1" smtClean="0"/>
              <a:t>segmentasyonlar</a:t>
            </a:r>
            <a:r>
              <a:rPr lang="tr-TR" dirty="0" smtClean="0"/>
              <a:t>) her pikseli işaretlemek de dahil olmak üzere çeşitli şekillerde yapılabilir. </a:t>
            </a:r>
          </a:p>
          <a:p>
            <a:r>
              <a:rPr lang="tr-TR" dirty="0" smtClean="0"/>
              <a:t>Nesne tespit ve tanıma süreçlerini 5 başlık altında inceleyebiliriz</a:t>
            </a:r>
            <a:r>
              <a:rPr lang="tr-TR" dirty="0" smtClean="0"/>
              <a:t> </a:t>
            </a:r>
            <a:endParaRPr lang="tr-TR" dirty="0"/>
          </a:p>
        </p:txBody>
      </p:sp>
      <p:pic>
        <p:nvPicPr>
          <p:cNvPr id="1026" name="Picture 2" descr="Detecte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3908" y="3761824"/>
            <a:ext cx="7914807" cy="27934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62439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dirty="0" smtClean="0"/>
              <a:t>1. Veri Girişi</a:t>
            </a:r>
            <a:endParaRPr lang="tr-TR" dirty="0"/>
          </a:p>
        </p:txBody>
      </p:sp>
      <p:sp>
        <p:nvSpPr>
          <p:cNvPr id="3" name="İçerik Yer Tutucusu 2"/>
          <p:cNvSpPr>
            <a:spLocks noGrp="1"/>
          </p:cNvSpPr>
          <p:nvPr>
            <p:ph idx="1"/>
          </p:nvPr>
        </p:nvSpPr>
        <p:spPr/>
        <p:txBody>
          <a:bodyPr>
            <a:normAutofit/>
          </a:bodyPr>
          <a:lstStyle/>
          <a:p>
            <a:r>
              <a:rPr lang="tr-TR" dirty="0">
                <a:effectLst/>
              </a:rPr>
              <a:t>Bu aşmada hazırlanan veri gürültülerinden ayrıştırılmak, istenilen formata getirilmek gibi amaçlara sisteme girdi olarak verilir. Nesne tespit veya sınıflandırma işlemi yapacağımız için verilerimiz de doğal olarak görüntü olacaktır. Bir insan, otomobil veya ev istediğimiz veriye örnekken, üzerinde insan bulunan bir orman fotoğrafı girdi olarak </a:t>
            </a:r>
            <a:r>
              <a:rPr lang="tr-TR" dirty="0" smtClean="0">
                <a:effectLst/>
              </a:rPr>
              <a:t>tanımlanabilir. </a:t>
            </a:r>
            <a:r>
              <a:rPr lang="tr-TR" dirty="0">
                <a:effectLst/>
              </a:rPr>
              <a:t> Fotoğraf makineleri ile çekilmiş fotoğraflar, dijital olarak oluşturulmuş resimler, video filmler ve taranmış metinler bu veri türlerine örnektir. Veri formatı kullanılan teknolojiye, dile, platforma vb. bir çok etkene bağlıdır fakat kullanacağımız algoritmalar için geçerli format matris haline getirilmiş görüntü pikselleridir.</a:t>
            </a:r>
            <a:endParaRPr lang="tr-TR" dirty="0"/>
          </a:p>
        </p:txBody>
      </p:sp>
    </p:spTree>
    <p:extLst>
      <p:ext uri="{BB962C8B-B14F-4D97-AF65-F5344CB8AC3E}">
        <p14:creationId xmlns:p14="http://schemas.microsoft.com/office/powerpoint/2010/main" val="33902141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dirty="0" smtClean="0"/>
              <a:t>2 Ön İşleme</a:t>
            </a:r>
            <a:endParaRPr lang="tr-TR" dirty="0"/>
          </a:p>
        </p:txBody>
      </p:sp>
      <p:sp>
        <p:nvSpPr>
          <p:cNvPr id="3" name="İçerik Yer Tutucusu 2"/>
          <p:cNvSpPr>
            <a:spLocks noGrp="1"/>
          </p:cNvSpPr>
          <p:nvPr>
            <p:ph idx="1"/>
          </p:nvPr>
        </p:nvSpPr>
        <p:spPr/>
        <p:txBody>
          <a:bodyPr>
            <a:normAutofit fontScale="92500" lnSpcReduction="20000"/>
          </a:bodyPr>
          <a:lstStyle/>
          <a:p>
            <a:r>
              <a:rPr lang="tr-TR" dirty="0">
                <a:effectLst/>
              </a:rPr>
              <a:t>Verilerin yapılacak olan işlemin amacına uygun hale gelmesi için hazırlamak veya engel teşkil etmesinin önüne geçmek için uygulanan bir takım sabit olmayan </a:t>
            </a:r>
            <a:r>
              <a:rPr lang="tr-TR" dirty="0" smtClean="0">
                <a:effectLst/>
              </a:rPr>
              <a:t>yöntemlerdir. Burada sabit olmayandan kasıt ön işlem süreçlerinin birden fazla duruma göre (Ör: veriye, ortama vb.) göre değişkenlik göstermesidir.</a:t>
            </a:r>
          </a:p>
          <a:p>
            <a:r>
              <a:rPr lang="tr-TR" dirty="0">
                <a:effectLst/>
              </a:rPr>
              <a:t>Veri ön işlemenin nedenlerini </a:t>
            </a:r>
            <a:r>
              <a:rPr lang="tr-TR" dirty="0" err="1">
                <a:effectLst/>
              </a:rPr>
              <a:t>siralamak</a:t>
            </a:r>
            <a:r>
              <a:rPr lang="tr-TR" dirty="0">
                <a:effectLst/>
              </a:rPr>
              <a:t> gerekirse; gürültülü parazitli veriler, tam olmayan eksik veriler ve tutarsız veriler olarak sayabiliriz. Peki </a:t>
            </a:r>
            <a:r>
              <a:rPr lang="tr-TR" dirty="0" err="1">
                <a:effectLst/>
              </a:rPr>
              <a:t>bunlari</a:t>
            </a:r>
            <a:r>
              <a:rPr lang="tr-TR" dirty="0">
                <a:effectLst/>
              </a:rPr>
              <a:t> nasıl yapabiliriz?</a:t>
            </a:r>
          </a:p>
          <a:p>
            <a:r>
              <a:rPr lang="tr-TR" dirty="0">
                <a:effectLst/>
              </a:rPr>
              <a:t>Veri ön işleme için bir çok </a:t>
            </a:r>
            <a:r>
              <a:rPr lang="tr-TR" dirty="0" err="1">
                <a:effectLst/>
              </a:rPr>
              <a:t>algortima</a:t>
            </a:r>
            <a:r>
              <a:rPr lang="tr-TR" dirty="0">
                <a:effectLst/>
              </a:rPr>
              <a:t> veya yöntem mevcuttur, bu yöntemler insan gözü ile denetleme olabileceği gibi karmaşık sinir ağları bile olabilir. Bu yöntemleri de </a:t>
            </a:r>
            <a:r>
              <a:rPr lang="tr-TR" dirty="0" err="1">
                <a:effectLst/>
              </a:rPr>
              <a:t>siralamak</a:t>
            </a:r>
            <a:r>
              <a:rPr lang="tr-TR" dirty="0">
                <a:effectLst/>
              </a:rPr>
              <a:t> istersek; Regresyon, </a:t>
            </a:r>
            <a:r>
              <a:rPr lang="tr-TR" dirty="0" err="1">
                <a:effectLst/>
              </a:rPr>
              <a:t>esikleme</a:t>
            </a:r>
            <a:r>
              <a:rPr lang="tr-TR" dirty="0">
                <a:effectLst/>
              </a:rPr>
              <a:t>, kümeleme, filtreleme, </a:t>
            </a:r>
            <a:r>
              <a:rPr lang="tr-TR" dirty="0" err="1">
                <a:effectLst/>
              </a:rPr>
              <a:t>binnig</a:t>
            </a:r>
            <a:r>
              <a:rPr lang="tr-TR" dirty="0">
                <a:effectLst/>
              </a:rPr>
              <a:t>, karar ağaçları vb. diyebiliriz. Unutulmaması gereken bir diğer nokta ise </a:t>
            </a:r>
            <a:r>
              <a:rPr lang="tr-TR" dirty="0" err="1">
                <a:effectLst/>
              </a:rPr>
              <a:t>bazılen</a:t>
            </a:r>
            <a:r>
              <a:rPr lang="tr-TR" dirty="0">
                <a:effectLst/>
              </a:rPr>
              <a:t> tek başına bir yöntemi uygulamak yeterli gelmeyebilir, bu durumlarda bir kaç farklı yöntemi peş peşe kullanabiliriz.</a:t>
            </a:r>
          </a:p>
          <a:p>
            <a:pPr marL="36900" indent="0">
              <a:buNone/>
            </a:pPr>
            <a:endParaRPr lang="tr-TR" dirty="0"/>
          </a:p>
        </p:txBody>
      </p:sp>
    </p:spTree>
    <p:extLst>
      <p:ext uri="{BB962C8B-B14F-4D97-AF65-F5344CB8AC3E}">
        <p14:creationId xmlns:p14="http://schemas.microsoft.com/office/powerpoint/2010/main" val="230834001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dirty="0" smtClean="0"/>
              <a:t>3- Öznitelik</a:t>
            </a:r>
            <a:endParaRPr lang="tr-TR" dirty="0"/>
          </a:p>
        </p:txBody>
      </p:sp>
      <p:sp>
        <p:nvSpPr>
          <p:cNvPr id="3" name="İçerik Yer Tutucusu 2"/>
          <p:cNvSpPr>
            <a:spLocks noGrp="1"/>
          </p:cNvSpPr>
          <p:nvPr>
            <p:ph idx="1"/>
          </p:nvPr>
        </p:nvSpPr>
        <p:spPr>
          <a:xfrm>
            <a:off x="913795" y="1732449"/>
            <a:ext cx="10353762" cy="4758292"/>
          </a:xfrm>
        </p:spPr>
        <p:txBody>
          <a:bodyPr>
            <a:normAutofit lnSpcReduction="10000"/>
          </a:bodyPr>
          <a:lstStyle/>
          <a:p>
            <a:r>
              <a:rPr lang="tr-TR" dirty="0">
                <a:effectLst/>
              </a:rPr>
              <a:t>Bu aşamada ön işleme tabi tutulmuş veri üzerinde daha önceden belirlenen nesnenin/isterin elde edilmesidir</a:t>
            </a:r>
            <a:r>
              <a:rPr lang="tr-TR" dirty="0" smtClean="0">
                <a:effectLst/>
              </a:rPr>
              <a:t>.</a:t>
            </a:r>
          </a:p>
          <a:p>
            <a:r>
              <a:rPr lang="tr-TR" dirty="0">
                <a:effectLst/>
              </a:rPr>
              <a:t>Bu bölümde öznitelik çıkarma (</a:t>
            </a:r>
            <a:r>
              <a:rPr lang="tr-TR" dirty="0" err="1">
                <a:effectLst/>
              </a:rPr>
              <a:t>feature</a:t>
            </a:r>
            <a:r>
              <a:rPr lang="tr-TR" dirty="0">
                <a:effectLst/>
              </a:rPr>
              <a:t> </a:t>
            </a:r>
            <a:r>
              <a:rPr lang="tr-TR" dirty="0" err="1">
                <a:effectLst/>
              </a:rPr>
              <a:t>extraction</a:t>
            </a:r>
            <a:r>
              <a:rPr lang="tr-TR" dirty="0">
                <a:effectLst/>
              </a:rPr>
              <a:t>) kavramına değinmek gerekiyor. </a:t>
            </a:r>
            <a:r>
              <a:rPr lang="tr-TR" dirty="0" err="1">
                <a:effectLst/>
              </a:rPr>
              <a:t>Feature</a:t>
            </a:r>
            <a:r>
              <a:rPr lang="tr-TR" dirty="0">
                <a:effectLst/>
              </a:rPr>
              <a:t> </a:t>
            </a:r>
            <a:r>
              <a:rPr lang="tr-TR" dirty="0" err="1">
                <a:effectLst/>
              </a:rPr>
              <a:t>extraction</a:t>
            </a:r>
            <a:r>
              <a:rPr lang="tr-TR" dirty="0">
                <a:effectLst/>
              </a:rPr>
              <a:t>; “Detay çıkarma: Bir cismin önceden tanımlanmış kriterleri ve özellikleri sayesinde görüntüler üzerinden otomatik olarak tespit edilmesi ve detaylarının elde edilmesi işlemi; eşanlam: detay saptama.” ve “Öznitelik çıkarma: Örüntü tanıma ve istatistiksel işaret işlemede, sınıflandırma amacıyla alınan ölçümlerin bazı dönüşümlerle daha özlü, daha az gürültülü, daha az sayıda ayırt edici değerlere dönüştürülmesi.” [3] Bu tanımı bazı kaynaklarda özellik çıkarımı olarak da görebilirsiniz</a:t>
            </a:r>
            <a:r>
              <a:rPr lang="tr-TR" dirty="0" smtClean="0">
                <a:effectLst/>
              </a:rPr>
              <a:t>.</a:t>
            </a:r>
          </a:p>
          <a:p>
            <a:r>
              <a:rPr lang="tr-TR" dirty="0">
                <a:effectLst/>
              </a:rPr>
              <a:t>Bu işlemler sonunda elde edeceğimiz şey , istediğimiz nesnenin görüntü üzerine var mı, varsa nerede olduğudur. Peki bu yöntemler nedir? Öznitelik çıkarımı için kullanabileceğiniz yüzlerce algoritma var kısaca bir kaçını saymak gerekirse SIFT (</a:t>
            </a:r>
            <a:r>
              <a:rPr lang="tr-TR" dirty="0" err="1">
                <a:effectLst/>
              </a:rPr>
              <a:t>Scale-Invariant</a:t>
            </a:r>
            <a:r>
              <a:rPr lang="tr-TR" dirty="0">
                <a:effectLst/>
              </a:rPr>
              <a:t> </a:t>
            </a:r>
            <a:r>
              <a:rPr lang="tr-TR" dirty="0" err="1">
                <a:effectLst/>
              </a:rPr>
              <a:t>Feature</a:t>
            </a:r>
            <a:r>
              <a:rPr lang="tr-TR" dirty="0">
                <a:effectLst/>
              </a:rPr>
              <a:t> </a:t>
            </a:r>
            <a:r>
              <a:rPr lang="tr-TR" dirty="0" err="1">
                <a:effectLst/>
              </a:rPr>
              <a:t>Transform</a:t>
            </a:r>
            <a:r>
              <a:rPr lang="tr-TR" dirty="0">
                <a:effectLst/>
              </a:rPr>
              <a:t>), SURF (</a:t>
            </a:r>
            <a:r>
              <a:rPr lang="tr-TR" dirty="0" err="1">
                <a:effectLst/>
              </a:rPr>
              <a:t>Speeded-Up</a:t>
            </a:r>
            <a:r>
              <a:rPr lang="tr-TR" dirty="0">
                <a:effectLst/>
              </a:rPr>
              <a:t> </a:t>
            </a:r>
            <a:r>
              <a:rPr lang="tr-TR" dirty="0" err="1">
                <a:effectLst/>
              </a:rPr>
              <a:t>Robust</a:t>
            </a:r>
            <a:r>
              <a:rPr lang="tr-TR" dirty="0">
                <a:effectLst/>
              </a:rPr>
              <a:t> </a:t>
            </a:r>
            <a:r>
              <a:rPr lang="tr-TR" dirty="0" err="1">
                <a:effectLst/>
              </a:rPr>
              <a:t>Features</a:t>
            </a:r>
            <a:r>
              <a:rPr lang="tr-TR" dirty="0">
                <a:effectLst/>
              </a:rPr>
              <a:t>), </a:t>
            </a:r>
            <a:r>
              <a:rPr lang="tr-TR" dirty="0" err="1">
                <a:effectLst/>
              </a:rPr>
              <a:t>Feature</a:t>
            </a:r>
            <a:r>
              <a:rPr lang="tr-TR" dirty="0">
                <a:effectLst/>
              </a:rPr>
              <a:t> </a:t>
            </a:r>
            <a:r>
              <a:rPr lang="tr-TR" dirty="0" err="1">
                <a:effectLst/>
              </a:rPr>
              <a:t>Matching</a:t>
            </a:r>
            <a:r>
              <a:rPr lang="tr-TR" dirty="0">
                <a:effectLst/>
              </a:rPr>
              <a:t>, </a:t>
            </a:r>
            <a:r>
              <a:rPr lang="tr-TR" dirty="0" err="1">
                <a:effectLst/>
              </a:rPr>
              <a:t>Haar</a:t>
            </a:r>
            <a:r>
              <a:rPr lang="tr-TR" dirty="0">
                <a:effectLst/>
              </a:rPr>
              <a:t> </a:t>
            </a:r>
            <a:r>
              <a:rPr lang="tr-TR" dirty="0" err="1">
                <a:effectLst/>
              </a:rPr>
              <a:t>Cascades</a:t>
            </a:r>
            <a:r>
              <a:rPr lang="tr-TR" dirty="0">
                <a:effectLst/>
              </a:rPr>
              <a:t>, HOG (</a:t>
            </a:r>
            <a:r>
              <a:rPr lang="tr-TR" dirty="0" err="1">
                <a:effectLst/>
              </a:rPr>
              <a:t>Histogram</a:t>
            </a:r>
            <a:r>
              <a:rPr lang="tr-TR" dirty="0">
                <a:effectLst/>
              </a:rPr>
              <a:t> of </a:t>
            </a:r>
            <a:r>
              <a:rPr lang="tr-TR" dirty="0" err="1">
                <a:effectLst/>
              </a:rPr>
              <a:t>Oriented</a:t>
            </a:r>
            <a:r>
              <a:rPr lang="tr-TR" dirty="0">
                <a:effectLst/>
              </a:rPr>
              <a:t> </a:t>
            </a:r>
            <a:r>
              <a:rPr lang="tr-TR" dirty="0" err="1">
                <a:effectLst/>
              </a:rPr>
              <a:t>Gradients</a:t>
            </a:r>
            <a:r>
              <a:rPr lang="tr-TR" dirty="0">
                <a:effectLst/>
              </a:rPr>
              <a:t>) vb. diyebiliriz.</a:t>
            </a:r>
            <a:endParaRPr lang="tr-TR" dirty="0"/>
          </a:p>
        </p:txBody>
      </p:sp>
    </p:spTree>
    <p:extLst>
      <p:ext uri="{BB962C8B-B14F-4D97-AF65-F5344CB8AC3E}">
        <p14:creationId xmlns:p14="http://schemas.microsoft.com/office/powerpoint/2010/main" val="20810884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dirty="0" smtClean="0"/>
              <a:t>4 - Tanımlama</a:t>
            </a:r>
            <a:endParaRPr lang="tr-TR" dirty="0"/>
          </a:p>
        </p:txBody>
      </p:sp>
      <p:sp>
        <p:nvSpPr>
          <p:cNvPr id="3" name="İçerik Yer Tutucusu 2"/>
          <p:cNvSpPr>
            <a:spLocks noGrp="1"/>
          </p:cNvSpPr>
          <p:nvPr>
            <p:ph idx="1"/>
          </p:nvPr>
        </p:nvSpPr>
        <p:spPr/>
        <p:txBody>
          <a:bodyPr/>
          <a:lstStyle/>
          <a:p>
            <a:r>
              <a:rPr lang="tr-TR" dirty="0">
                <a:effectLst/>
              </a:rPr>
              <a:t>Tanımlama, tespit ettiğimiz görüntüden çıkarım yapabilmek, tanımak yani bu görüntünün ne olduğunu anlama aşaması olarak </a:t>
            </a:r>
            <a:r>
              <a:rPr lang="tr-TR" dirty="0" err="1">
                <a:effectLst/>
              </a:rPr>
              <a:t>basitce</a:t>
            </a:r>
            <a:r>
              <a:rPr lang="tr-TR" dirty="0">
                <a:effectLst/>
              </a:rPr>
              <a:t> tanımlanabilir. Bu bölümde temek iki kavrama değinmek gerekiyor; Sınıflandırma ve Kümeleme. Sınıflandırma veriyi önceden belirlenmiş sınıflardan birine dahil etmektir. </a:t>
            </a:r>
            <a:r>
              <a:rPr lang="tr-TR" dirty="0" err="1">
                <a:effectLst/>
              </a:rPr>
              <a:t>Danışmanlı</a:t>
            </a:r>
            <a:r>
              <a:rPr lang="tr-TR" dirty="0">
                <a:effectLst/>
              </a:rPr>
              <a:t> (Gözetimli, </a:t>
            </a:r>
            <a:r>
              <a:rPr lang="tr-TR" dirty="0" err="1">
                <a:effectLst/>
              </a:rPr>
              <a:t>Supervised</a:t>
            </a:r>
            <a:r>
              <a:rPr lang="tr-TR" dirty="0">
                <a:effectLst/>
              </a:rPr>
              <a:t>) öğrenme, kestirim ve örüntü tanıma yöntemleri ile gerçekleştirilir. Kümelemede ise benzer verileri, benzer özellik gösterenler aynı grupta toplanırlar.</a:t>
            </a:r>
          </a:p>
          <a:p>
            <a:pPr marL="36900" indent="0">
              <a:buNone/>
            </a:pPr>
            <a:endParaRPr lang="tr-TR" dirty="0"/>
          </a:p>
        </p:txBody>
      </p:sp>
    </p:spTree>
    <p:extLst>
      <p:ext uri="{BB962C8B-B14F-4D97-AF65-F5344CB8AC3E}">
        <p14:creationId xmlns:p14="http://schemas.microsoft.com/office/powerpoint/2010/main" val="1580863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dirty="0" smtClean="0"/>
              <a:t>CNN Nedir?</a:t>
            </a:r>
            <a:endParaRPr lang="tr-TR" dirty="0"/>
          </a:p>
        </p:txBody>
      </p:sp>
      <p:sp>
        <p:nvSpPr>
          <p:cNvPr id="3" name="İçerik Yer Tutucusu 2"/>
          <p:cNvSpPr>
            <a:spLocks noGrp="1"/>
          </p:cNvSpPr>
          <p:nvPr>
            <p:ph idx="1"/>
          </p:nvPr>
        </p:nvSpPr>
        <p:spPr/>
        <p:txBody>
          <a:bodyPr/>
          <a:lstStyle/>
          <a:p>
            <a:r>
              <a:rPr lang="tr-TR" dirty="0" err="1">
                <a:effectLst/>
              </a:rPr>
              <a:t>Evrişimsel</a:t>
            </a:r>
            <a:r>
              <a:rPr lang="tr-TR" dirty="0">
                <a:effectLst/>
              </a:rPr>
              <a:t> sinir ağları, </a:t>
            </a:r>
            <a:r>
              <a:rPr lang="tr-TR" dirty="0">
                <a:effectLst/>
                <a:hlinkClick r:id="rId2" tooltip="Derin öğrenme"/>
              </a:rPr>
              <a:t>derin öğrenmenin</a:t>
            </a:r>
            <a:r>
              <a:rPr lang="tr-TR" dirty="0">
                <a:effectLst/>
              </a:rPr>
              <a:t> bir alt dalıdır ve genellikle görsel bilginin analiz edilmesinde kullanılır. Yaygın kullanım alanları </a:t>
            </a:r>
            <a:r>
              <a:rPr lang="tr-TR" dirty="0">
                <a:effectLst/>
                <a:hlinkClick r:id="rId3" tooltip="Resim ve video tanıma (sayfa mevcut değil)"/>
              </a:rPr>
              <a:t>resim ve video tanıma</a:t>
            </a:r>
            <a:r>
              <a:rPr lang="tr-TR" dirty="0">
                <a:effectLst/>
              </a:rPr>
              <a:t>, </a:t>
            </a:r>
            <a:r>
              <a:rPr lang="tr-TR" dirty="0">
                <a:effectLst/>
                <a:hlinkClick r:id="rId4" tooltip="Öneri sistemleri (sayfa mevcut değil)"/>
              </a:rPr>
              <a:t>öneri sistemleri</a:t>
            </a:r>
            <a:r>
              <a:rPr lang="tr-TR" baseline="30000" dirty="0">
                <a:effectLst/>
                <a:hlinkClick r:id="rId5"/>
              </a:rPr>
              <a:t>[1]</a:t>
            </a:r>
            <a:r>
              <a:rPr lang="tr-TR" dirty="0">
                <a:effectLst/>
              </a:rPr>
              <a:t> </a:t>
            </a:r>
            <a:r>
              <a:rPr lang="tr-TR" dirty="0">
                <a:effectLst/>
                <a:hlinkClick r:id="rId6" tooltip="Resim sınıflandırma (sayfa mevcut değil)"/>
              </a:rPr>
              <a:t>resim sınıflandırma</a:t>
            </a:r>
            <a:r>
              <a:rPr lang="tr-TR" dirty="0">
                <a:effectLst/>
              </a:rPr>
              <a:t>, </a:t>
            </a:r>
            <a:r>
              <a:rPr lang="tr-TR" dirty="0">
                <a:effectLst/>
                <a:hlinkClick r:id="rId7" tooltip="Tıbbi görüntü analizi (sayfa mevcut değil)"/>
              </a:rPr>
              <a:t>tıbbi görüntü analizi</a:t>
            </a:r>
            <a:r>
              <a:rPr lang="tr-TR" dirty="0">
                <a:effectLst/>
              </a:rPr>
              <a:t> ve </a:t>
            </a:r>
            <a:r>
              <a:rPr lang="tr-TR" dirty="0">
                <a:effectLst/>
                <a:hlinkClick r:id="rId8" tooltip="Doğal dil işleme"/>
              </a:rPr>
              <a:t>doğal dil işleme</a:t>
            </a:r>
            <a:r>
              <a:rPr lang="tr-TR" baseline="30000" dirty="0">
                <a:effectLst/>
                <a:hlinkClick r:id="rId9"/>
              </a:rPr>
              <a:t>[2]</a:t>
            </a:r>
            <a:r>
              <a:rPr lang="tr-TR" dirty="0">
                <a:effectLst/>
              </a:rPr>
              <a:t> olarak sıralanabilir.</a:t>
            </a:r>
          </a:p>
          <a:p>
            <a:r>
              <a:rPr lang="tr-TR" dirty="0"/>
              <a:t/>
            </a:r>
            <a:br>
              <a:rPr lang="tr-TR" dirty="0"/>
            </a:br>
            <a:endParaRPr lang="tr-TR" dirty="0"/>
          </a:p>
        </p:txBody>
      </p:sp>
    </p:spTree>
    <p:extLst>
      <p:ext uri="{BB962C8B-B14F-4D97-AF65-F5344CB8AC3E}">
        <p14:creationId xmlns:p14="http://schemas.microsoft.com/office/powerpoint/2010/main" val="32162146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dirty="0" smtClean="0"/>
              <a:t>CNN Tasarımı</a:t>
            </a:r>
            <a:endParaRPr lang="tr-TR" dirty="0"/>
          </a:p>
        </p:txBody>
      </p:sp>
      <p:sp>
        <p:nvSpPr>
          <p:cNvPr id="3" name="İçerik Yer Tutucusu 2"/>
          <p:cNvSpPr>
            <a:spLocks noGrp="1"/>
          </p:cNvSpPr>
          <p:nvPr>
            <p:ph idx="1"/>
          </p:nvPr>
        </p:nvSpPr>
        <p:spPr/>
        <p:txBody>
          <a:bodyPr>
            <a:normAutofit/>
          </a:bodyPr>
          <a:lstStyle/>
          <a:p>
            <a:r>
              <a:rPr lang="tr-TR" dirty="0">
                <a:effectLst/>
              </a:rPr>
              <a:t>Bir kıvrımlı sinir ağı, bir giriş ve bir çıkış katmanının yanı sıra birden fazla gizli katmandan oluşur . Bir CNN'nin gizli katmanları tipik olarak bir çarpma veya başka bir </a:t>
            </a:r>
            <a:r>
              <a:rPr lang="tr-TR" dirty="0">
                <a:effectLst/>
                <a:hlinkClick r:id="rId2" tooltip="Nokta çarpım"/>
              </a:rPr>
              <a:t>nokta ürünü</a:t>
            </a:r>
            <a:r>
              <a:rPr lang="tr-TR" dirty="0">
                <a:effectLst/>
              </a:rPr>
              <a:t> ile </a:t>
            </a:r>
            <a:r>
              <a:rPr lang="tr-TR" i="1" dirty="0">
                <a:effectLst/>
              </a:rPr>
              <a:t>kıvrılan</a:t>
            </a:r>
            <a:r>
              <a:rPr lang="tr-TR" dirty="0">
                <a:effectLst/>
              </a:rPr>
              <a:t> bir dizi kıvrımlı katmandan oluşur. Aktivasyon fonksiyonu genellikle bir RELU katmanıdır ve bunu takiben havuzlama katmanları, tamamen bağlı katmanlar ve normalleştirme katmanları gibi gizli katmanlar olarak adlandırılan ek kıvrımlar gelir, çünkü girişleri ve çıkışları aktivasyon fonksiyonu ve son kıvrım tarafından maskelenir. Son </a:t>
            </a:r>
            <a:r>
              <a:rPr lang="tr-TR" dirty="0" err="1">
                <a:effectLst/>
              </a:rPr>
              <a:t>evrişim</a:t>
            </a:r>
            <a:r>
              <a:rPr lang="tr-TR" dirty="0">
                <a:effectLst/>
              </a:rPr>
              <a:t>, sonuçta, nihai ürünü daha doğru bir şekilde ağırlaştırmak için genellikle geri yayılımı içerir.</a:t>
            </a:r>
            <a:r>
              <a:rPr lang="tr-TR" baseline="30000" dirty="0">
                <a:effectLst/>
                <a:hlinkClick r:id="rId3"/>
              </a:rPr>
              <a:t>[4]</a:t>
            </a:r>
            <a:endParaRPr lang="tr-TR" dirty="0">
              <a:effectLst/>
            </a:endParaRPr>
          </a:p>
          <a:p>
            <a:r>
              <a:rPr lang="tr-TR" dirty="0"/>
              <a:t/>
            </a:r>
            <a:br>
              <a:rPr lang="tr-TR" dirty="0"/>
            </a:br>
            <a:endParaRPr lang="tr-TR" dirty="0"/>
          </a:p>
        </p:txBody>
      </p:sp>
    </p:spTree>
    <p:extLst>
      <p:ext uri="{BB962C8B-B14F-4D97-AF65-F5344CB8AC3E}">
        <p14:creationId xmlns:p14="http://schemas.microsoft.com/office/powerpoint/2010/main" val="381187590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normAutofit/>
          </a:bodyPr>
          <a:lstStyle/>
          <a:p>
            <a:r>
              <a:rPr lang="tr-TR" dirty="0" smtClean="0"/>
              <a:t>Google </a:t>
            </a:r>
            <a:r>
              <a:rPr lang="tr-TR" dirty="0" err="1" smtClean="0"/>
              <a:t>Colaboratory</a:t>
            </a:r>
            <a:r>
              <a:rPr lang="tr-TR" dirty="0" smtClean="0"/>
              <a:t> Nedir ve Nasıl Kullanılır?</a:t>
            </a:r>
            <a:endParaRPr lang="tr-TR" dirty="0"/>
          </a:p>
        </p:txBody>
      </p:sp>
      <p:sp>
        <p:nvSpPr>
          <p:cNvPr id="3" name="İçerik Yer Tutucusu 2"/>
          <p:cNvSpPr>
            <a:spLocks noGrp="1"/>
          </p:cNvSpPr>
          <p:nvPr>
            <p:ph idx="1"/>
          </p:nvPr>
        </p:nvSpPr>
        <p:spPr/>
        <p:txBody>
          <a:bodyPr/>
          <a:lstStyle/>
          <a:p>
            <a:r>
              <a:rPr lang="tr-TR" dirty="0" smtClean="0"/>
              <a:t>Google </a:t>
            </a:r>
            <a:r>
              <a:rPr lang="tr-TR" dirty="0" err="1" smtClean="0"/>
              <a:t>Colaboratory</a:t>
            </a:r>
            <a:r>
              <a:rPr lang="tr-TR" dirty="0" smtClean="0"/>
              <a:t>, ücretsiz </a:t>
            </a:r>
            <a:r>
              <a:rPr lang="tr-TR" dirty="0" err="1" smtClean="0"/>
              <a:t>Tesla</a:t>
            </a:r>
            <a:r>
              <a:rPr lang="tr-TR" dirty="0" smtClean="0"/>
              <a:t> K80 GPU üzerinde; </a:t>
            </a:r>
            <a:r>
              <a:rPr lang="tr-TR" dirty="0" err="1" smtClean="0"/>
              <a:t>Keras</a:t>
            </a:r>
            <a:r>
              <a:rPr lang="tr-TR" dirty="0" smtClean="0"/>
              <a:t>, </a:t>
            </a:r>
            <a:r>
              <a:rPr lang="tr-TR" dirty="0" err="1" smtClean="0"/>
              <a:t>TensorFlow</a:t>
            </a:r>
            <a:r>
              <a:rPr lang="tr-TR" dirty="0"/>
              <a:t>,</a:t>
            </a:r>
            <a:r>
              <a:rPr lang="tr-TR" dirty="0" smtClean="0"/>
              <a:t> </a:t>
            </a:r>
            <a:r>
              <a:rPr lang="tr-TR" dirty="0" err="1" smtClean="0"/>
              <a:t>PyTorch</a:t>
            </a:r>
            <a:r>
              <a:rPr lang="tr-TR" dirty="0"/>
              <a:t> </a:t>
            </a:r>
            <a:r>
              <a:rPr lang="tr-TR" dirty="0" smtClean="0"/>
              <a:t>, </a:t>
            </a:r>
            <a:r>
              <a:rPr lang="tr-TR" dirty="0" err="1" smtClean="0"/>
              <a:t>OpenCV</a:t>
            </a:r>
            <a:r>
              <a:rPr lang="tr-TR" dirty="0" smtClean="0"/>
              <a:t> vb. kütüphaneleri kullanarak derin öğrenme ve makine uygulamaları geliştirmeye yarayan bir ortamdır. Google </a:t>
            </a:r>
            <a:r>
              <a:rPr lang="tr-TR" dirty="0" err="1" smtClean="0"/>
              <a:t>Colab</a:t>
            </a:r>
            <a:r>
              <a:rPr lang="tr-TR" dirty="0" smtClean="0"/>
              <a:t> ile </a:t>
            </a:r>
            <a:r>
              <a:rPr lang="tr-TR" dirty="0" err="1" smtClean="0"/>
              <a:t>Python</a:t>
            </a:r>
            <a:r>
              <a:rPr lang="tr-TR" dirty="0" smtClean="0"/>
              <a:t> dilinde uygulamalar geliştirilebilir. </a:t>
            </a:r>
          </a:p>
          <a:p>
            <a:r>
              <a:rPr lang="tr-TR" dirty="0" smtClean="0"/>
              <a:t>Google </a:t>
            </a:r>
            <a:r>
              <a:rPr lang="tr-TR" dirty="0" err="1" smtClean="0"/>
              <a:t>Colab’in</a:t>
            </a:r>
            <a:r>
              <a:rPr lang="tr-TR" dirty="0" smtClean="0"/>
              <a:t> diğer bulut servislerinden farklı olarak en önemli özelliği </a:t>
            </a:r>
            <a:r>
              <a:rPr lang="tr-TR" dirty="0" err="1" smtClean="0"/>
              <a:t>GPU’yu</a:t>
            </a:r>
            <a:r>
              <a:rPr lang="tr-TR" dirty="0" smtClean="0"/>
              <a:t> tamamen ücretsiz sağlamasıdır.</a:t>
            </a:r>
          </a:p>
          <a:p>
            <a:pPr marL="36900" indent="0">
              <a:buNone/>
            </a:pPr>
            <a:endParaRPr lang="tr-TR" dirty="0"/>
          </a:p>
        </p:txBody>
      </p:sp>
    </p:spTree>
    <p:extLst>
      <p:ext uri="{BB962C8B-B14F-4D97-AF65-F5344CB8AC3E}">
        <p14:creationId xmlns:p14="http://schemas.microsoft.com/office/powerpoint/2010/main" val="293657589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title"/>
          </p:nvPr>
        </p:nvSpPr>
        <p:spPr/>
        <p:txBody>
          <a:bodyPr>
            <a:normAutofit/>
          </a:bodyPr>
          <a:lstStyle/>
          <a:p>
            <a:r>
              <a:rPr lang="tr-TR" dirty="0"/>
              <a:t>Google </a:t>
            </a:r>
            <a:r>
              <a:rPr lang="tr-TR" dirty="0" err="1"/>
              <a:t>Colaboratory</a:t>
            </a:r>
            <a:r>
              <a:rPr lang="tr-TR" dirty="0"/>
              <a:t> Nedir ve Nasıl Kullanılır?</a:t>
            </a:r>
          </a:p>
        </p:txBody>
      </p:sp>
      <p:sp>
        <p:nvSpPr>
          <p:cNvPr id="3" name="İçerik Yer Tutucusu 2"/>
          <p:cNvSpPr>
            <a:spLocks noGrp="1"/>
          </p:cNvSpPr>
          <p:nvPr>
            <p:ph idx="1"/>
          </p:nvPr>
        </p:nvSpPr>
        <p:spPr/>
        <p:txBody>
          <a:bodyPr>
            <a:normAutofit/>
          </a:bodyPr>
          <a:lstStyle/>
          <a:p>
            <a:pPr marL="494100" indent="-457200">
              <a:buFont typeface="+mj-lt"/>
              <a:buAutoNum type="arabicPeriod"/>
            </a:pPr>
            <a:r>
              <a:rPr lang="tr-TR" dirty="0"/>
              <a:t>Google </a:t>
            </a:r>
            <a:r>
              <a:rPr lang="tr-TR" dirty="0" err="1"/>
              <a:t>Colab</a:t>
            </a:r>
            <a:r>
              <a:rPr lang="tr-TR" dirty="0"/>
              <a:t> kullanmak için öncelikle Drive içerisinde </a:t>
            </a:r>
            <a:r>
              <a:rPr lang="tr-TR" dirty="0" err="1"/>
              <a:t>app</a:t>
            </a:r>
            <a:r>
              <a:rPr lang="tr-TR" dirty="0"/>
              <a:t> adında bir klasör oluştururuz.</a:t>
            </a:r>
          </a:p>
          <a:p>
            <a:pPr marL="494100" indent="-457200">
              <a:buFont typeface="+mj-lt"/>
              <a:buAutoNum type="arabicPeriod"/>
            </a:pPr>
            <a:r>
              <a:rPr lang="tr-TR" dirty="0" smtClean="0"/>
              <a:t>Klasör içine girerek, Sağ Klik &gt; Daha Fazla &gt; </a:t>
            </a:r>
            <a:r>
              <a:rPr lang="tr-TR" dirty="0" err="1" smtClean="0"/>
              <a:t>Colaboratory</a:t>
            </a:r>
            <a:r>
              <a:rPr lang="tr-TR" dirty="0" smtClean="0"/>
              <a:t> seçilir. Eğer seçenek yoksa daha fazla uygulama alanından indirilir.</a:t>
            </a:r>
          </a:p>
          <a:p>
            <a:pPr marL="494100" indent="-457200">
              <a:buFont typeface="+mj-lt"/>
              <a:buAutoNum type="arabicPeriod"/>
            </a:pPr>
            <a:r>
              <a:rPr lang="tr-TR" dirty="0" smtClean="0"/>
              <a:t>Projeye bir isim verilir. </a:t>
            </a:r>
          </a:p>
          <a:p>
            <a:pPr marL="494100" indent="-457200">
              <a:buFont typeface="+mj-lt"/>
              <a:buAutoNum type="arabicPeriod"/>
            </a:pPr>
            <a:r>
              <a:rPr lang="tr-TR" dirty="0" smtClean="0"/>
              <a:t>Ücretsiz GPU ayarlamak için ise </a:t>
            </a:r>
            <a:r>
              <a:rPr lang="tr-TR" dirty="0" err="1" smtClean="0"/>
              <a:t>Edit</a:t>
            </a:r>
            <a:r>
              <a:rPr lang="tr-TR" dirty="0" smtClean="0"/>
              <a:t> &gt; Notebook </a:t>
            </a:r>
            <a:r>
              <a:rPr lang="tr-TR" dirty="0" err="1" smtClean="0"/>
              <a:t>Settings</a:t>
            </a:r>
            <a:r>
              <a:rPr lang="tr-TR" dirty="0" smtClean="0"/>
              <a:t> ya da Runtime &gt; </a:t>
            </a:r>
            <a:r>
              <a:rPr lang="tr-TR" dirty="0" err="1" smtClean="0"/>
              <a:t>Change</a:t>
            </a:r>
            <a:r>
              <a:rPr lang="tr-TR" dirty="0" smtClean="0"/>
              <a:t> </a:t>
            </a:r>
            <a:r>
              <a:rPr lang="tr-TR" dirty="0" err="1" smtClean="0"/>
              <a:t>runtime</a:t>
            </a:r>
            <a:r>
              <a:rPr lang="tr-TR" dirty="0" smtClean="0"/>
              <a:t> </a:t>
            </a:r>
            <a:r>
              <a:rPr lang="tr-TR" dirty="0" err="1" smtClean="0"/>
              <a:t>Type</a:t>
            </a:r>
            <a:r>
              <a:rPr lang="tr-TR" dirty="0" smtClean="0"/>
              <a:t> yolları izlenir. </a:t>
            </a:r>
          </a:p>
          <a:p>
            <a:pPr marL="494100" indent="-457200">
              <a:buFont typeface="+mj-lt"/>
              <a:buAutoNum type="arabicPeriod"/>
            </a:pPr>
            <a:r>
              <a:rPr lang="tr-TR" dirty="0" err="1" smtClean="0"/>
              <a:t>Drive’i</a:t>
            </a:r>
            <a:r>
              <a:rPr lang="tr-TR" dirty="0" smtClean="0"/>
              <a:t> </a:t>
            </a:r>
            <a:r>
              <a:rPr lang="tr-TR" dirty="0" err="1" smtClean="0"/>
              <a:t>colab</a:t>
            </a:r>
            <a:r>
              <a:rPr lang="tr-TR" dirty="0" smtClean="0"/>
              <a:t> içerisinden kullanabilmek için sırasıyla aşağıdaki komutlar çalıştırılır</a:t>
            </a:r>
            <a:endParaRPr lang="tr-TR" dirty="0"/>
          </a:p>
        </p:txBody>
      </p:sp>
    </p:spTree>
    <p:extLst>
      <p:ext uri="{BB962C8B-B14F-4D97-AF65-F5344CB8AC3E}">
        <p14:creationId xmlns:p14="http://schemas.microsoft.com/office/powerpoint/2010/main" val="167256669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Resim 1"/>
          <p:cNvPicPr>
            <a:picLocks noChangeAspect="1"/>
          </p:cNvPicPr>
          <p:nvPr/>
        </p:nvPicPr>
        <p:blipFill>
          <a:blip r:embed="rId2"/>
          <a:stretch>
            <a:fillRect/>
          </a:stretch>
        </p:blipFill>
        <p:spPr>
          <a:xfrm>
            <a:off x="850751" y="224763"/>
            <a:ext cx="10287633" cy="3522778"/>
          </a:xfrm>
          <a:prstGeom prst="rect">
            <a:avLst/>
          </a:prstGeom>
        </p:spPr>
      </p:pic>
      <p:sp>
        <p:nvSpPr>
          <p:cNvPr id="3" name="Metin kutusu 2"/>
          <p:cNvSpPr txBox="1"/>
          <p:nvPr/>
        </p:nvSpPr>
        <p:spPr>
          <a:xfrm>
            <a:off x="662203" y="3987899"/>
            <a:ext cx="10664727" cy="646331"/>
          </a:xfrm>
          <a:prstGeom prst="rect">
            <a:avLst/>
          </a:prstGeom>
          <a:noFill/>
        </p:spPr>
        <p:txBody>
          <a:bodyPr wrap="square" rtlCol="0">
            <a:spAutoFit/>
          </a:bodyPr>
          <a:lstStyle/>
          <a:p>
            <a:r>
              <a:rPr lang="tr-TR" dirty="0" smtClean="0"/>
              <a:t>Çıkan linkte tıklanır. Gerekli izinler verilir ve verilen kod alana kopyalanır. Daha sonra aşağıdaki komut çalıştırılır ve </a:t>
            </a:r>
            <a:r>
              <a:rPr lang="tr-TR" dirty="0" err="1" smtClean="0"/>
              <a:t>drive’e</a:t>
            </a:r>
            <a:r>
              <a:rPr lang="tr-TR" dirty="0" smtClean="0"/>
              <a:t> erişilir.</a:t>
            </a:r>
            <a:endParaRPr lang="tr-TR" dirty="0"/>
          </a:p>
        </p:txBody>
      </p:sp>
      <p:pic>
        <p:nvPicPr>
          <p:cNvPr id="4" name="Resim 3"/>
          <p:cNvPicPr>
            <a:picLocks noChangeAspect="1"/>
          </p:cNvPicPr>
          <p:nvPr/>
        </p:nvPicPr>
        <p:blipFill>
          <a:blip r:embed="rId3"/>
          <a:stretch>
            <a:fillRect/>
          </a:stretch>
        </p:blipFill>
        <p:spPr>
          <a:xfrm>
            <a:off x="662203" y="4760354"/>
            <a:ext cx="9636236" cy="1372432"/>
          </a:xfrm>
          <a:prstGeom prst="rect">
            <a:avLst/>
          </a:prstGeom>
        </p:spPr>
      </p:pic>
    </p:spTree>
    <p:extLst>
      <p:ext uri="{BB962C8B-B14F-4D97-AF65-F5344CB8AC3E}">
        <p14:creationId xmlns:p14="http://schemas.microsoft.com/office/powerpoint/2010/main" val="2757070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071351"/>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yon">
  <a:themeElements>
    <a:clrScheme name="İy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y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y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34</TotalTime>
  <Words>711</Words>
  <Application>Microsoft Office PowerPoint</Application>
  <PresentationFormat>Geniş ekran</PresentationFormat>
  <Paragraphs>34</Paragraphs>
  <Slides>12</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12</vt:i4>
      </vt:variant>
    </vt:vector>
  </HeadingPairs>
  <TitlesOfParts>
    <vt:vector size="16" baseType="lpstr">
      <vt:lpstr>Arial</vt:lpstr>
      <vt:lpstr>Century Gothic</vt:lpstr>
      <vt:lpstr>Wingdings 3</vt:lpstr>
      <vt:lpstr>İyon</vt:lpstr>
      <vt:lpstr>Makine Öğrenmesi Vize Projesi</vt:lpstr>
      <vt:lpstr>Nesne Tanıma (Object Detection) Nedir?</vt:lpstr>
      <vt:lpstr>1. Veri Girişi</vt:lpstr>
      <vt:lpstr>2 Ön İşleme</vt:lpstr>
      <vt:lpstr>3- Öznitelik</vt:lpstr>
      <vt:lpstr>4 - Tanımlama</vt:lpstr>
      <vt:lpstr>CNN Nedir?</vt:lpstr>
      <vt:lpstr>CNN Tasarımı</vt:lpstr>
      <vt:lpstr>Google Colaboratory Nedir ve Nasıl Kullanılır?</vt:lpstr>
      <vt:lpstr>Google Colaboratory Nedir ve Nasıl Kullanılır?</vt:lpstr>
      <vt:lpstr>PowerPoint Sunusu</vt:lpstr>
      <vt:lpstr>PowerPoint Sunusu</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Makine Öğrenmesi Vize Projesi</dc:title>
  <dc:creator>Çağatay Türkan</dc:creator>
  <cp:lastModifiedBy>Çağatay Türkan</cp:lastModifiedBy>
  <cp:revision>5</cp:revision>
  <dcterms:created xsi:type="dcterms:W3CDTF">2020-05-06T14:12:20Z</dcterms:created>
  <dcterms:modified xsi:type="dcterms:W3CDTF">2020-05-06T14:51:54Z</dcterms:modified>
</cp:coreProperties>
</file>